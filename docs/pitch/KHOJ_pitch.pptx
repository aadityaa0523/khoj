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A4F"/>
                </a:solidFill>
                <a:latin typeface="Calibri"/>
              </a:rPr>
              <a:t>KHOJ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I got lost in a mela. My phone was useless.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9B3CC"/>
                </a:solidFill>
                <a:latin typeface="Calibri"/>
              </a:rP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5A4F"/>
                </a:solidFill>
                <a:latin typeface="Calibri"/>
              </a:rPr>
              <a:t>How this idea started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203703"/>
            <a:ext cx="118872" cy="118872"/>
          </a:xfrm>
          <a:prstGeom prst="ellipse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532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I was in a huge crowd and got separated from my family.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072384"/>
            <a:ext cx="118872" cy="118872"/>
          </a:xfrm>
          <a:prstGeom prst="ellipse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5532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No signal. Calls and WhatsApp did not go through.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41063"/>
            <a:ext cx="118872" cy="118872"/>
          </a:xfrm>
          <a:prstGeom prst="ellipse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40479"/>
            <a:ext cx="5532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The only hope was a loudspeaker announcement.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809744"/>
            <a:ext cx="118872" cy="118872"/>
          </a:xfrm>
          <a:prstGeom prst="ellipse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09159"/>
            <a:ext cx="5532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But every phone around me still had Bluetooth. Why can't phones just pass the message along?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691640"/>
            <a:ext cx="4846320" cy="192024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66560" y="1856232"/>
            <a:ext cx="64008" cy="36576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80136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The same story, again and again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258568"/>
            <a:ext cx="4526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9B3CC"/>
                </a:solidFill>
                <a:latin typeface="Calibri"/>
              </a:rPr>
              <a:t>Maha Kumbh 2025: tens of thousands of people were lost. Concerts, stadiums and railway platforms are the same: a crowd gets big, the network collapses, and a loudspeaker is the only tool left.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3840480"/>
            <a:ext cx="4846320" cy="192024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66560" y="4005072"/>
            <a:ext cx="64008" cy="365760"/>
          </a:xfrm>
          <a:prstGeom prst="rect">
            <a:avLst/>
          </a:prstGeom>
          <a:solidFill>
            <a:srgbClr val="4CD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395020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So we built KHOJ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407408"/>
            <a:ext cx="4526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9B3CC"/>
                </a:solidFill>
                <a:latin typeface="Calibri"/>
              </a:rPr>
              <a:t>Find your family in a crowd with no internet and no SIM. Every phone running KHOJ becomes a relay, so the crowd itself becomes the network.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A4F"/>
                </a:solidFill>
                <a:latin typeface="Calibri"/>
              </a:rPr>
              <a:t>WHAT KHOJ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9B3CC"/>
                </a:solidFill>
                <a:latin typeface="Calibri"/>
              </a:rPr>
              <a:t>2/6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64008" cy="36576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Live radar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3CC"/>
                </a:solidFill>
                <a:latin typeface="Calibri"/>
              </a:rPr>
              <a:t>Each family member is a bubble at their real direction and distance.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810512"/>
            <a:ext cx="64008" cy="36576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7556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Find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12848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3CC"/>
                </a:solidFill>
                <a:latin typeface="Calibri"/>
              </a:rPr>
              <a:t>An arrow that says how it knows. Shows nothing rather than a guess it cannot support.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10512"/>
            <a:ext cx="64008" cy="36576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556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Family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12848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3CC"/>
                </a:solidFill>
                <a:latin typeface="Calibri"/>
              </a:rPr>
              <a:t>Join a group with one QR code. Set how far someone may wander before everyone is alerted.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645920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810512"/>
            <a:ext cx="64008" cy="36576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7556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Wristband QR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212848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3CC"/>
                </a:solidFill>
                <a:latin typeface="Calibri"/>
              </a:rPr>
              <a:t>Any phone camera reads it with no app and no internet. Shows a Call button for the child's guardian.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23360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87952"/>
            <a:ext cx="64008" cy="36576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3308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Light 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90288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3CC"/>
                </a:solidFill>
                <a:latin typeface="Calibri"/>
              </a:rPr>
              <a:t>Make a family member's torch, screen and sound go off so you can spot them in a crowd (they must allow it).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4023360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3280" y="4187952"/>
            <a:ext cx="64008" cy="36576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13308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Voice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590288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3CC"/>
                </a:solidFill>
                <a:latin typeface="Calibri"/>
              </a:rPr>
              <a:t>Speak in English, Hindi or Tamil. It runs on the phone and handles the whole app.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187952"/>
            <a:ext cx="64008" cy="36576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13308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SOS and fall alert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590288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3CC"/>
                </a:solidFill>
                <a:latin typeface="Calibri"/>
              </a:rPr>
              <a:t>Hold or shake to alert the group. Fall detection sends an alert automatically.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4023360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52560" y="4187952"/>
            <a:ext cx="64008" cy="36576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413308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Simple mode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590288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3CC"/>
                </a:solidFill>
                <a:latin typeface="Calibri"/>
              </a:rPr>
              <a:t>A big-button screen for elders and first-time users.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9B3CC"/>
                </a:solidFill>
                <a:latin typeface="Calibri"/>
              </a:rPr>
              <a:t>Android today. Calling a wristband number needs ordinary phone signal; nothing else needs internet.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A4F"/>
                </a:solidFill>
                <a:latin typeface="Calibri"/>
              </a:rPr>
              <a:t>TECHNICAL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Offline ways phones talk to each 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9B3CC"/>
                </a:solidFill>
                <a:latin typeface="Calibri"/>
              </a:rPr>
              <a:t>3/6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64008" cy="36576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Bluetooth LE mesh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3CC"/>
                </a:solidFill>
                <a:latin typeface="Calibri"/>
              </a:rPr>
              <a:t>BLE 5 extended advertising. Managed flooding with relay delay and duplicate suppression, store-carry-forward, ACK retries.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10512"/>
            <a:ext cx="64008" cy="36576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556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Google Nearby Connections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12848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3CC"/>
                </a:solidFill>
                <a:latin typeface="Calibri"/>
              </a:rPr>
              <a:t>Cluster of phones. Starts on Bluetooth, upgrades to Wi-Fi LAN. Verified between our phones.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810512"/>
            <a:ext cx="64008" cy="36576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556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Wi-Fi Direct and Wi-Fi Aware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12848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3CC"/>
                </a:solidFill>
                <a:latin typeface="Calibri"/>
              </a:rPr>
              <a:t>Higher-speed links when the phones support them. Wi-Fi LAN was the verified upgrade; Direct is not yet verified.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050791"/>
            <a:ext cx="64008" cy="36576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959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GATT 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53128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3CC"/>
                </a:solidFill>
                <a:latin typeface="Calibri"/>
              </a:rPr>
              <a:t>Direct Bluetooth connection as a fallback bearer.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88620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4050791"/>
            <a:ext cx="64008" cy="365760"/>
          </a:xfrm>
          <a:prstGeom prst="rect">
            <a:avLst/>
          </a:prstGeom>
          <a:solidFill>
            <a:srgbClr val="A9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9959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Optional internet relay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53128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3CC"/>
                </a:solidFill>
                <a:latin typeface="Calibri"/>
              </a:rPr>
              <a:t>If a phone happens to have internet it can bridge groups. Never required.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88620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4050791"/>
            <a:ext cx="64008" cy="365760"/>
          </a:xfrm>
          <a:prstGeom prst="rect">
            <a:avLst/>
          </a:prstGeom>
          <a:solidFill>
            <a:srgbClr val="4CD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9959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Private by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53128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3CC"/>
                </a:solidFill>
                <a:latin typeface="Calibri"/>
              </a:rPr>
              <a:t>Packets are sealed with AES-256-GCM using a key only the family holds. Strangers can relay but not read. Identifiers rotate every 15 minutes.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17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B3CC"/>
                </a:solidFill>
                <a:latin typeface="Calibri"/>
              </a:rPr>
              <a:t>Tested on 3 real phones. Range and crowd-scale behaviour still need more field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A4F"/>
                </a:solidFill>
                <a:latin typeface="Calibri"/>
              </a:rPr>
              <a:t>MAIN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Packet regeneration with on-device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9B3CC"/>
                </a:solidFill>
                <a:latin typeface="Calibri"/>
              </a:rP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5A4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In a dense crowd, Bluetooth packets are lost to collisions and bursts of interference. Today the mesh recovers by retrying.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5A4F"/>
                </a:solidFill>
                <a:latin typeface="Calibri"/>
              </a:rPr>
              <a:t>The idea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575303"/>
            <a:ext cx="118872" cy="118872"/>
          </a:xfrm>
          <a:prstGeom prst="ellipse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 phone that misses a packet rebuilds it from the other packets it did receive (relays from neighbours, and parity).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443984"/>
            <a:ext cx="118872" cy="118872"/>
          </a:xfrm>
          <a:prstGeom prst="ellipse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 small model fills the gaps using what it already knows: last position, motion and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312664"/>
            <a:ext cx="118872" cy="118872"/>
          </a:xfrm>
          <a:prstGeom prst="ellipse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212079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The model is trained on a laptop, then exported and run on the phone's Qualcomm NPU with the QNN delegate.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645920"/>
            <a:ext cx="4937760" cy="160020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1810512"/>
            <a:ext cx="64008" cy="365760"/>
          </a:xfrm>
          <a:prstGeom prst="rect">
            <a:avLst/>
          </a:prstGeom>
          <a:solidFill>
            <a:srgbClr val="4CD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755648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What exists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12848"/>
            <a:ext cx="4617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3CC"/>
                </a:solidFill>
                <a:latin typeface="Calibri"/>
              </a:rPr>
              <a:t>Reed-Solomon recovery in direct sharing: 92.8% delivery vs 54.6% without it on bursty loss (simulation). A loss-predictor model already runs on the NPU path (currently paused).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429000"/>
            <a:ext cx="4937760" cy="160020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3593592"/>
            <a:ext cx="64008" cy="36576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538728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What we are building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995928"/>
            <a:ext cx="4617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3CC"/>
                </a:solidFill>
                <a:latin typeface="Calibri"/>
              </a:rPr>
              <a:t>Regeneration inside the mesh itself. This is the design and prototype stage; there are no measured results for it yet.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5212080"/>
            <a:ext cx="4937760" cy="109728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0" y="5376672"/>
            <a:ext cx="64008" cy="36576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5321808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Honest limit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779008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3CC"/>
                </a:solidFill>
                <a:latin typeface="Calibri"/>
              </a:rPr>
              <a:t>It improves delivery inside the existing range. It does not extend Bluetooth range.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A4F"/>
                </a:solidFill>
                <a:latin typeface="Calibri"/>
              </a:rPr>
              <a:t>THE MESH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The crowd becomes the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9B3CC"/>
                </a:solidFill>
                <a:latin typeface="Calibri"/>
              </a:rPr>
              <a:t>5/6</a:t>
            </a:r>
          </a:p>
        </p:txBody>
      </p:sp>
      <p:pic>
        <p:nvPicPr>
          <p:cNvPr id="5" name="Picture 4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30936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89788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B3CC"/>
                </a:solidFill>
                <a:latin typeface="Calibri"/>
              </a:rPr>
              <a:t>Illustration: a message hops phone to phone from sender A to receiver O. No tower, no internet.</a:t>
            </a:r>
          </a:p>
        </p:txBody>
      </p:sp>
      <p:sp>
        <p:nvSpPr>
          <p:cNvPr id="7" name="Oval 6"/>
          <p:cNvSpPr/>
          <p:nvPr/>
        </p:nvSpPr>
        <p:spPr>
          <a:xfrm>
            <a:off x="7680960" y="1746504"/>
            <a:ext cx="118872" cy="118872"/>
          </a:xfrm>
          <a:prstGeom prst="ellipse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645920"/>
            <a:ext cx="3886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More phones means more routes, so the mesh gets stronger in a crowd.</a:t>
            </a:r>
          </a:p>
        </p:txBody>
      </p:sp>
      <p:sp>
        <p:nvSpPr>
          <p:cNvPr id="9" name="Oval 8"/>
          <p:cNvSpPr/>
          <p:nvPr/>
        </p:nvSpPr>
        <p:spPr>
          <a:xfrm>
            <a:off x="7680960" y="2798064"/>
            <a:ext cx="118872" cy="118872"/>
          </a:xfrm>
          <a:prstGeom prst="ellipse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697480"/>
            <a:ext cx="3886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SOS and Find messages get priority over everything else.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0" y="3849624"/>
            <a:ext cx="118872" cy="118872"/>
          </a:xfrm>
          <a:prstGeom prst="ellipse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749039"/>
            <a:ext cx="3886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Phones that are out of range carry the message and pass it on later.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0" y="4901184"/>
            <a:ext cx="118872" cy="118872"/>
          </a:xfrm>
          <a:prstGeom prst="ellipse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4800600"/>
            <a:ext cx="3886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Find is honest about age: a live position is used as it is, a 10 to 20 second old one is predicted, and nothing is shown after 20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A4F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Losing signal should not mean losing your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9B3CC"/>
                </a:solidFill>
                <a:latin typeface="Calibri"/>
              </a:rPr>
              <a:t>6/6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64008" cy="36576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9B3CC"/>
                </a:solidFill>
                <a:latin typeface="Calibri"/>
              </a:rPr>
              <a:t>In big crowds the network fails exactly when families need it most, and a loudspeaker is all that is left.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10512"/>
            <a:ext cx="64008" cy="365760"/>
          </a:xfrm>
          <a:prstGeom prst="rect">
            <a:avLst/>
          </a:prstGeom>
          <a:solidFill>
            <a:srgbClr val="4CD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5564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Our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12848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9B3CC"/>
                </a:solidFill>
                <a:latin typeface="Calibri"/>
              </a:rPr>
              <a:t>KHOJ: phone-to-phone mesh, a radar and arrow to find family, a wristband any camera can read, and voice in Hindi and Tamil.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1A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810512"/>
            <a:ext cx="64008" cy="36576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556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Where we 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12848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9B3CC"/>
                </a:solidFill>
                <a:latin typeface="Calibri"/>
              </a:rPr>
              <a:t>Working app on 3 real phones. Next: crowd-scale field tests and in-mesh packet regeneration on the NPU.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5A4F"/>
                </a:solidFill>
                <a:latin typeface="Calibri"/>
              </a:rPr>
              <a:t>Join the beta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9B3CC"/>
                </a:solidFill>
                <a:latin typeface="Calibri"/>
              </a:rPr>
              <a:t>Early software. Android only for now. Not a replacement for calling 112.</a:t>
            </a:r>
          </a:p>
        </p:txBody>
      </p:sp>
      <p:pic>
        <p:nvPicPr>
          <p:cNvPr id="19" name="Picture 18" descr="khoj_scre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069080"/>
            <a:ext cx="3356386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