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5A4F"/>
                </a:solidFill>
                <a:latin typeface="Calibri"/>
              </a:rPr>
              <a:t>KHOJ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I got lost in a mela. My phone was useless.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9B3CC"/>
                </a:solidFill>
                <a:latin typeface="Calibri"/>
              </a:rP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5A4F"/>
                </a:solidFill>
                <a:latin typeface="Calibri"/>
              </a:rPr>
              <a:t>How this idea started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203703"/>
            <a:ext cx="118872" cy="118872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5532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I was in a huge crowd and got separated from my family.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072384"/>
            <a:ext cx="118872" cy="118872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971800"/>
            <a:ext cx="5532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No signal. Calls and WhatsApp did not go through.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941063"/>
            <a:ext cx="118872" cy="118872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840479"/>
            <a:ext cx="5532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The only hope was a loudspeaker announcement.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809744"/>
            <a:ext cx="118872" cy="118872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09159"/>
            <a:ext cx="5532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But every phone around me still had Bluetooth. Why can't phones just pass the message along?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1691640"/>
            <a:ext cx="4846320" cy="192024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0" y="1856232"/>
            <a:ext cx="64008" cy="36576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1801368"/>
            <a:ext cx="4526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The same story, again and again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258568"/>
            <a:ext cx="4526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9B3CC"/>
                </a:solidFill>
                <a:latin typeface="Calibri"/>
              </a:rPr>
              <a:t>Maha Kumbh 2025: tens of thousands of people were lost. Concerts, stadiums and railway platforms are the same: a crowd gets big, the network collapses, and a loudspeaker is the only tool left.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3840480"/>
            <a:ext cx="4846320" cy="192024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4005072"/>
            <a:ext cx="64008" cy="365760"/>
          </a:xfrm>
          <a:prstGeom prst="rect">
            <a:avLst/>
          </a:prstGeom>
          <a:solidFill>
            <a:srgbClr val="4C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3950208"/>
            <a:ext cx="4526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So we built KHOJ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07408"/>
            <a:ext cx="4526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9B3CC"/>
                </a:solidFill>
                <a:latin typeface="Calibri"/>
              </a:rPr>
              <a:t>Find your family in a crowd with no internet and no SIM. Every phone running KHOJ becomes a relay, so the crowd itself becomes the network.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5A4F"/>
                </a:solidFill>
                <a:latin typeface="Calibri"/>
              </a:rPr>
              <a:t>WHAT KHOJ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Main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9B3CC"/>
                </a:solidFill>
                <a:latin typeface="Calibri"/>
              </a:rPr>
              <a:t>2/6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64008" cy="36576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556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Live radar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12848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Each family member is a bubble at their real direction and distance.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645920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1810512"/>
            <a:ext cx="64008" cy="365760"/>
          </a:xfrm>
          <a:prstGeom prst="rect">
            <a:avLst/>
          </a:prstGeom>
          <a:solidFill>
            <a:srgbClr val="FFB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556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Find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12848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An arrow that says how it knows. Shows nothing rather than a guess it cannot support.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810512"/>
            <a:ext cx="64008" cy="36576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7556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Family 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12848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Join a group with one QR code. Set how far someone may wander before everyone is alerted.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1645920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52560" y="1810512"/>
            <a:ext cx="64008" cy="365760"/>
          </a:xfrm>
          <a:prstGeom prst="rect">
            <a:avLst/>
          </a:prstGeom>
          <a:solidFill>
            <a:srgbClr val="FFB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7556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Wristband QR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212848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Any phone camera reads it with no app and no internet. Shows a Call button for the child's guardian.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23360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87952"/>
            <a:ext cx="64008" cy="36576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1330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Light 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590288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Make a family member's torch, screen and sound go off so you can spot them in a crowd (they must allow it).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4023360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83280" y="4187952"/>
            <a:ext cx="64008" cy="365760"/>
          </a:xfrm>
          <a:prstGeom prst="rect">
            <a:avLst/>
          </a:prstGeom>
          <a:solidFill>
            <a:srgbClr val="FFB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1330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Voice assistant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4590288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Speak in English, Hindi or Tamil. It runs on the phone and handles the whole app.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023360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4187952"/>
            <a:ext cx="64008" cy="36576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1330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SOS and fall alert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590288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Hold or shake to alert the group. Fall detection sends an alert automatically.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4023360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52560" y="4187952"/>
            <a:ext cx="64008" cy="365760"/>
          </a:xfrm>
          <a:prstGeom prst="rect">
            <a:avLst/>
          </a:prstGeom>
          <a:solidFill>
            <a:srgbClr val="FFB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0" y="41330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Simple mode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4590288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A big-button screen for elders and first-time users.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9B3CC"/>
                </a:solidFill>
                <a:latin typeface="Calibri"/>
              </a:rPr>
              <a:t>Android today. Calling a wristband number needs ordinary phone signal; nothing else needs internet.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5A4F"/>
                </a:solidFill>
                <a:latin typeface="Calibri"/>
              </a:rPr>
              <a:t>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Offline ways phones talk to each other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9B3CC"/>
                </a:solidFill>
                <a:latin typeface="Calibri"/>
              </a:rPr>
              <a:t>3/6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64008" cy="36576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5564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Bluetooth LE mesh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12848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BLE 5 extended advertising. Managed flooding with relay delay and duplicate suppression, store-carry-forward, ACK retries.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810512"/>
            <a:ext cx="64008" cy="365760"/>
          </a:xfrm>
          <a:prstGeom prst="rect">
            <a:avLst/>
          </a:prstGeom>
          <a:solidFill>
            <a:srgbClr val="FFB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75564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Google Nearby Connections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212848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Cluster of phones. Starts on Bluetooth, upgrades to Wi-Fi LAN. Verified between our phones.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4592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810512"/>
            <a:ext cx="64008" cy="365760"/>
          </a:xfrm>
          <a:prstGeom prst="rect">
            <a:avLst/>
          </a:prstGeom>
          <a:solidFill>
            <a:srgbClr val="FFB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75564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Wi-Fi Direct and Wi-Fi Aware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212848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Higher-speed links when the phones support them. Wi-Fi LAN was the verified upgrade; Direct is not yet verified.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050791"/>
            <a:ext cx="64008" cy="36576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99592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GATT link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53128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Direct Bluetooth connection as a fallback bearer.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8620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4050791"/>
            <a:ext cx="64008" cy="365760"/>
          </a:xfrm>
          <a:prstGeom prst="rect">
            <a:avLst/>
          </a:prstGeom>
          <a:solidFill>
            <a:srgbClr val="A9B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99592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Optional internet relay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453128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If a phone happens to have internet it can bridge groups. Never required.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88620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4050791"/>
            <a:ext cx="64008" cy="365760"/>
          </a:xfrm>
          <a:prstGeom prst="rect">
            <a:avLst/>
          </a:prstGeom>
          <a:solidFill>
            <a:srgbClr val="4C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99592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Private by 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453128"/>
            <a:ext cx="3291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Packets are sealed with AES-256-GCM using a key only the family holds. Strangers can relay but not read. Identifiers rotate every 15 minutes.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217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9B3CC"/>
                </a:solidFill>
                <a:latin typeface="Calibri"/>
              </a:rPr>
              <a:t>Tested on 3 real phones. Range and crowd-scale behaviour still need more field testing.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5A4F"/>
                </a:solidFill>
                <a:latin typeface="Calibri"/>
              </a:rPr>
              <a:t>OUR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The mesh heals itself: packet regeneration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9B3CC"/>
                </a:solidFill>
                <a:latin typeface="Calibri"/>
              </a:rPr>
              <a:t>4/6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26517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64008" cy="365760"/>
          </a:xfrm>
          <a:prstGeom prst="rect">
            <a:avLst/>
          </a:prstGeom>
          <a:solidFill>
            <a:srgbClr val="FFB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55648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1. What the phone already knows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12848"/>
            <a:ext cx="3246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Last known location. Timestamp and how old it is. Speed and motion (walking, still). Signal-strength history. Copies of the packet relayed by neighbours.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06240" y="2651760"/>
            <a:ext cx="457200" cy="457200"/>
          </a:xfrm>
          <a:prstGeom prst="rightArrow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54880" y="1645920"/>
            <a:ext cx="3566160" cy="26517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810512"/>
            <a:ext cx="64008" cy="36576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755648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2. On-device AI on the NPU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212848"/>
            <a:ext cx="3246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A small model trained on a laptop, exported to LiteRT and run on the phone's Qualcomm NPU through the QNN delegate. Fast, private, no internet.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412480" y="2651760"/>
            <a:ext cx="457200" cy="457200"/>
          </a:xfrm>
          <a:prstGeom prst="rightArrow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20" y="1645920"/>
            <a:ext cx="2697480" cy="26517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1810512"/>
            <a:ext cx="64008" cy="365760"/>
          </a:xfrm>
          <a:prstGeom prst="rect">
            <a:avLst/>
          </a:prstGeom>
          <a:solidFill>
            <a:srgbClr val="4C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3. Regenerated packet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12848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The missing update is rebuilt and tagged regenerated, with a confidence. A real packet replaces it the moment one arrives.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2628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690872"/>
            <a:ext cx="64008" cy="365760"/>
          </a:xfrm>
          <a:prstGeom prst="rect">
            <a:avLst/>
          </a:prstGeom>
          <a:solidFill>
            <a:srgbClr val="4C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63600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093208"/>
            <a:ext cx="3337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In a crowd, packets drop in bursts. Instead of a family member vanishing from the radar, their last good data fills the gap.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452628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4690872"/>
            <a:ext cx="64008" cy="36576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463600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Safety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5093208"/>
            <a:ext cx="3337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B3CC"/>
                </a:solidFill>
                <a:latin typeface="Calibri"/>
              </a:rPr>
              <a:t>A regenerated position is never shown as live. If the gap passes 20 seconds, KHOJ shows nothing rather than guess.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5262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4690872"/>
            <a:ext cx="64008" cy="365760"/>
          </a:xfrm>
          <a:prstGeom prst="rect">
            <a:avLst/>
          </a:prstGeom>
          <a:solidFill>
            <a:srgbClr val="FFB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46360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Status,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093208"/>
            <a:ext cx="3200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9B3CC"/>
                </a:solidFill>
                <a:latin typeface="Calibri"/>
              </a:rPr>
              <a:t>Design and prototype. Reed-Solomon recovery in direct sharing: 92.8% vs 54.6% (simulation). No measured regeneration results yet. It does not extend range.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5A4F"/>
                </a:solidFill>
                <a:latin typeface="Calibri"/>
              </a:rPr>
              <a:t>THE MESH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The crowd becomes the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9B3CC"/>
                </a:solidFill>
                <a:latin typeface="Calibri"/>
              </a:rPr>
              <a:t>5/6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30936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89788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9B3CC"/>
                </a:solidFill>
                <a:latin typeface="Calibri"/>
              </a:rPr>
              <a:t>Illustration: a message hops phone to phone from sender A to receiver O. No tower, no internet.</a:t>
            </a:r>
          </a:p>
        </p:txBody>
      </p:sp>
      <p:sp>
        <p:nvSpPr>
          <p:cNvPr id="7" name="Oval 6"/>
          <p:cNvSpPr/>
          <p:nvPr/>
        </p:nvSpPr>
        <p:spPr>
          <a:xfrm>
            <a:off x="7680960" y="1746504"/>
            <a:ext cx="118872" cy="118872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1645920"/>
            <a:ext cx="3886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More phones means more routes, so the mesh gets stronger in a crowd.</a:t>
            </a:r>
          </a:p>
        </p:txBody>
      </p:sp>
      <p:sp>
        <p:nvSpPr>
          <p:cNvPr id="9" name="Oval 8"/>
          <p:cNvSpPr/>
          <p:nvPr/>
        </p:nvSpPr>
        <p:spPr>
          <a:xfrm>
            <a:off x="7680960" y="2798064"/>
            <a:ext cx="118872" cy="118872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2697480"/>
            <a:ext cx="3886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SOS and Find messages get priority over everything else.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0" y="3849624"/>
            <a:ext cx="118872" cy="118872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3749039"/>
            <a:ext cx="3886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Phones that are out of range carry the message and pass it on later.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0" y="4901184"/>
            <a:ext cx="118872" cy="118872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4800600"/>
            <a:ext cx="3886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Find is honest about age: a live position is used as it is, a 10 to 20 second old one is predicted, and nothing is shown after 20 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5A4F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Losing signal should not mean losing your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9B3CC"/>
                </a:solidFill>
                <a:latin typeface="Calibri"/>
              </a:rPr>
              <a:t>6/6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64008" cy="36576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5564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12848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9B3CC"/>
                </a:solidFill>
                <a:latin typeface="Calibri"/>
              </a:rPr>
              <a:t>In big crowds the network fails exactly when families need it most, and a loudspeaker is all that is left.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810512"/>
            <a:ext cx="64008" cy="365760"/>
          </a:xfrm>
          <a:prstGeom prst="rect">
            <a:avLst/>
          </a:prstGeom>
          <a:solidFill>
            <a:srgbClr val="4CD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75564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Our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212848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9B3CC"/>
                </a:solidFill>
                <a:latin typeface="Calibri"/>
              </a:rPr>
              <a:t>KHOJ: phone-to-phone mesh, a radar and arrow to find family, a wristband any camera can read, and voice in Hindi and Tamil.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45920"/>
            <a:ext cx="3520440" cy="2194560"/>
          </a:xfrm>
          <a:prstGeom prst="roundRect">
            <a:avLst>
              <a:gd name="adj" fmla="val 8000"/>
            </a:avLst>
          </a:prstGeom>
          <a:solidFill>
            <a:srgbClr val="1A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810512"/>
            <a:ext cx="64008" cy="365760"/>
          </a:xfrm>
          <a:prstGeom prst="rect">
            <a:avLst/>
          </a:prstGeom>
          <a:solidFill>
            <a:srgbClr val="FFB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7556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Where we 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212848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9B3CC"/>
                </a:solidFill>
                <a:latin typeface="Calibri"/>
              </a:rPr>
              <a:t>Working app on 3 real phones. Next: crowd-scale field tests and in-mesh packet regeneration on the NPU.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5A4F"/>
                </a:solidFill>
                <a:latin typeface="Calibri"/>
              </a:rPr>
              <a:t>Join the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5488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9B3CC"/>
                </a:solidFill>
                <a:latin typeface="Calibri"/>
              </a:rPr>
              <a:t>Early software. Android only for now. Not a replacement for calling 112.</a:t>
            </a:r>
          </a:p>
        </p:txBody>
      </p:sp>
      <p:pic>
        <p:nvPicPr>
          <p:cNvPr id="19" name="Picture 18" descr="khoj_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4069080"/>
            <a:ext cx="3356386" cy="2377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